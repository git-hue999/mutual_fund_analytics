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9728" cy="329184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Mutual Fund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514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DCE6F5"/>
                </a:solidFill>
                <a:latin typeface="Aptos"/>
              </a:rPr>
              <a:t>Bluestock Fintech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2461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B9CDE6"/>
                </a:solidFill>
                <a:latin typeface="Aptos"/>
              </a:rPr>
              <a:t>Data engineering • EDA • Advanced analytics •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349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4C3D7"/>
                </a:solidFill>
                <a:latin typeface="Aptos"/>
              </a:rPr>
              <a:t>Final Presentation — Day 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Problem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949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182880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56231"/>
            <a:ext cx="50474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Turn a multi-source mutual fund dataset into useful insights for fund performance, investor behaviour, SIP activity, risk and portfolio concentration.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9496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64008" cy="18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7218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Primary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56231"/>
            <a:ext cx="50474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• Understand AUM, NAV, inflows and fund-house trends
• Evaluate performance and risk metrics
• Analyse investor cohorts and SIP continuity
• Build actionable dashboard views and 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109728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474720"/>
            <a:ext cx="64008" cy="13716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621024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Final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05072"/>
            <a:ext cx="10625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A reproducible analytics workflow with cleaned data, analytical outputs, visual reports and Power BI dashboards.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Data Sources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778"/>
                </a:solidFill>
                <a:latin typeface="Aptos"/>
              </a:rPr>
              <a:t>Raw → Processed → Analysis →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4231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205740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01 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59152"/>
            <a:ext cx="2075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Fund master, NAV history,
AUM, inflows, investors,
portfolio &amp;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5146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4231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64008" cy="2057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75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02 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359152"/>
            <a:ext cx="2075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Python + Pandas
validation &amp; standardisation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5146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4231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64008" cy="20574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975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03 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359152"/>
            <a:ext cx="2075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EDA, SQL, risk metrics,
cohorts, SIP &amp;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25146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4231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64008" cy="2057400"/>
          </a:xfrm>
          <a:prstGeom prst="rect">
            <a:avLst/>
          </a:prstGeom>
          <a:solidFill>
            <a:srgbClr val="0D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97510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04 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359152"/>
            <a:ext cx="20756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CSV outputs + PNG charts
+ Power BI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02A"/>
                </a:solidFill>
                <a:latin typeface="Aptos"/>
              </a:defRPr>
            </a:pPr>
            <a:r>
              <a:t>Key tooling: Python, Pandas, NumPy, Matplotlib, SQL and Power BI.</a:t>
            </a:r>
          </a:p>
          <a:p>
            <a:pPr>
              <a:spcAft>
                <a:spcPts val="800"/>
              </a:spcAft>
              <a:defRPr sz="1500">
                <a:solidFill>
                  <a:srgbClr val="19202A"/>
                </a:solidFill>
                <a:latin typeface="Aptos"/>
              </a:defRPr>
            </a:pPr>
            <a:r>
              <a:t>Processed datasets and report assets are versioned inside the project repository.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Analytics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5204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64008" cy="182880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Ingestion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10512"/>
            <a:ext cx="3172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Load source CSVs, validate columns and data types, clean transaction/NAV/scheme data and maintain raw vs processed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64008" cy="1828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Analytical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10512"/>
            <a:ext cx="3172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EDA notebooks, SQL queries and Python calculations generate reusable CSV outputs for performance, investor and portfolio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5204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64008" cy="18288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BI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10512"/>
            <a:ext cx="31729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Power BI combines KPI cards, trend charts, rankings, cohort views, slicers and interactive fund-level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14173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2646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42245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069080"/>
            <a:ext cx="14173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2646"/>
                </a:solidFill>
                <a:latin typeface="Aptos"/>
              </a:rPr>
              <a:t>ETL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2245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069080"/>
            <a:ext cx="14173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2646"/>
                </a:solidFill>
                <a:latin typeface="Aptos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245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069080"/>
            <a:ext cx="14173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2646"/>
                </a:solidFill>
                <a:latin typeface="Aptos"/>
              </a:rPr>
              <a:t>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2245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A6778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069080"/>
            <a:ext cx="141732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D2646"/>
                </a:solidFill>
                <a:latin typeface="Aptos"/>
              </a:rPr>
              <a:t>Insights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EDA Highlights — Market &amp; Fund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5204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64008" cy="1691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AUM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10512"/>
            <a:ext cx="31729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The dashboard shows a strong rise in summed AUM from 2022 to 2024, followed by a decline in 2025 within the displayed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64008" cy="169164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Fund-house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10512"/>
            <a:ext cx="31729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SBI Mutual Fund is the highest-ranked fund house by summed AUM in the dashboard, followed by ICICI Prudential MF and HDFC Mutual Fund.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520440" cy="169164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64008" cy="169164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26463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Investor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10512"/>
            <a:ext cx="31729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Investor analytics cover monthly transaction activity, SIP vs lump-sum/redemption mix, age-group SIP behaviour and state-level exploration.</a:t>
            </a:r>
          </a:p>
        </p:txBody>
      </p:sp>
      <p:pic>
        <p:nvPicPr>
          <p:cNvPr id="16" name="Picture 15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329" y="3246120"/>
            <a:ext cx="5000581" cy="28803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EDA Highlights — Investor &amp; Transaction Behaviour</a:t>
            </a:r>
          </a:p>
        </p:txBody>
      </p:sp>
      <p:pic>
        <p:nvPicPr>
          <p:cNvPr id="4" name="Picture 3" descr="Dashboard_Page_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03" y="1234440"/>
            <a:ext cx="8991832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Performance &amp; Risk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9496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4008" cy="164592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1790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Historical 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01952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95% VaR and CVaR calculated from historical return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9496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64008" cy="1645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1790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Rolling Sharpe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90-day rolling risk-adjusted return analysis to track changes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20440"/>
            <a:ext cx="539496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520440"/>
            <a:ext cx="64008" cy="164592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6667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Fund 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50791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Return, volatility, Sharpe/Sortino, drawdown and benchmark-related fields brought together for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0440"/>
            <a:ext cx="5394960" cy="164592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20440"/>
            <a:ext cx="64008" cy="1645920"/>
          </a:xfrm>
          <a:prstGeom prst="rect">
            <a:avLst/>
          </a:prstGeom>
          <a:solidFill>
            <a:srgbClr val="0D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666744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Advanced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50791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var_cvar_report.csv, rolling_sharpe_chart.png and supporting analytical CSVs.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Advanced Analytics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202A"/>
                </a:solidFill>
                <a:latin typeface="Aptos"/>
              </a:defRPr>
            </a:pPr>
            <a:r>
              <a:t>Investor cohort analysis: grouped investors by first transaction year and compared average SIP amount, total invested amount and investor count.</a:t>
            </a:r>
          </a:p>
          <a:p>
            <a:pPr>
              <a:spcAft>
                <a:spcPts val="1200"/>
              </a:spcAft>
              <a:defRPr sz="1700">
                <a:solidFill>
                  <a:srgbClr val="19202A"/>
                </a:solidFill>
                <a:latin typeface="Aptos"/>
              </a:defRPr>
            </a:pPr>
            <a:r>
              <a:t>SIP continuation analysis: identified investors with 6+ SIP transactions and measured gaps between transactions.</a:t>
            </a:r>
          </a:p>
          <a:p>
            <a:pPr>
              <a:spcAft>
                <a:spcPts val="1200"/>
              </a:spcAft>
              <a:defRPr sz="1700">
                <a:solidFill>
                  <a:srgbClr val="19202A"/>
                </a:solidFill>
                <a:latin typeface="Aptos"/>
              </a:defRPr>
            </a:pPr>
            <a:r>
              <a:t>Recommendation logic: mapped investor risk preference to fund candidates and produced a recommendation output.</a:t>
            </a:r>
          </a:p>
          <a:p>
            <a:pPr>
              <a:spcAft>
                <a:spcPts val="1200"/>
              </a:spcAft>
              <a:defRPr sz="1700">
                <a:solidFill>
                  <a:srgbClr val="19202A"/>
                </a:solidFill>
                <a:latin typeface="Aptos"/>
              </a:defRPr>
            </a:pPr>
            <a:r>
              <a:t>Sector concentration: calculated HHI from portfolio sector weights to identify concentration risk.</a:t>
            </a:r>
          </a:p>
          <a:p>
            <a:pPr>
              <a:spcAft>
                <a:spcPts val="1200"/>
              </a:spcAft>
              <a:defRPr sz="1700">
                <a:solidFill>
                  <a:srgbClr val="19202A"/>
                </a:solidFill>
                <a:latin typeface="Aptos"/>
              </a:defRPr>
            </a:pPr>
            <a:r>
              <a:t>The outputs were saved as reusable CSV/Python artifacts for reporting and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Power BI Dashboard — Industry &amp; Fund Performance</a:t>
            </a:r>
          </a:p>
        </p:txBody>
      </p:sp>
      <p:pic>
        <p:nvPicPr>
          <p:cNvPr id="4" name="Picture 3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97" y="1188720"/>
            <a:ext cx="9128045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Power BI Dashboard — Investor &amp; Market Views</a:t>
            </a:r>
          </a:p>
        </p:txBody>
      </p:sp>
      <p:pic>
        <p:nvPicPr>
          <p:cNvPr id="4" name="Picture 3" descr="Dashboard_Page_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4288"/>
            <a:ext cx="5623560" cy="3246663"/>
          </a:xfrm>
          <a:prstGeom prst="rect">
            <a:avLst/>
          </a:prstGeom>
        </p:spPr>
      </p:pic>
      <p:pic>
        <p:nvPicPr>
          <p:cNvPr id="5" name="Picture 4" descr="Dashboard_P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94689"/>
            <a:ext cx="5623560" cy="32458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646"/>
                </a:solidFill>
                <a:latin typeface="Aptos Display"/>
              </a:rPr>
              <a:t>Key Findings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492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15087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807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1. Prioritise high-scale fund houses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64792"/>
            <a:ext cx="5001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Use AUM ranking as a starting point, then combine it with risk-adjusted performance before making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492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64008" cy="1508760"/>
          </a:xfrm>
          <a:prstGeom prst="rect">
            <a:avLst/>
          </a:prstGeom>
          <a:solidFill>
            <a:srgbClr val="EB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3807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2. Watch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764792"/>
            <a:ext cx="5001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Funds with high sector HHI deserve additional diversification review before being treated as low-risk choices.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53492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64008" cy="150876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095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3. Segment 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593592"/>
            <a:ext cx="5001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Age, state, transaction behaviour and SIP continuity provide useful dimensions for targeted investor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63240"/>
            <a:ext cx="534924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063240"/>
            <a:ext cx="64008" cy="1508760"/>
          </a:xfrm>
          <a:prstGeom prst="rect">
            <a:avLst/>
          </a:prstGeom>
          <a:solidFill>
            <a:srgbClr val="0D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20954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2646"/>
                </a:solidFill>
                <a:latin typeface="Aptos Display"/>
              </a:rPr>
              <a:t>4. Combine performance +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593592"/>
            <a:ext cx="50017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9202A"/>
                </a:solidFill>
                <a:latin typeface="Aptos"/>
              </a:rPr>
              <a:t>A stronger recommendation engine should consider return, volatility, drawdown, continuity and investor risk preference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7E4F5"/>
                </a:solidFill>
                <a:latin typeface="Aptos"/>
              </a:rPr>
              <a:t>Mutual Fund Analytics — From raw data to actionable investment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FC3DC"/>
                </a:solidFill>
                <a:latin typeface="Aptos"/>
              </a:rPr>
              <a:t>Bluestock Fintech Internship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778"/>
                </a:solidFill>
                <a:latin typeface="Aptos"/>
              </a:rPr>
              <a:t>Bluestock Fintech — Mutual Fund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836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8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